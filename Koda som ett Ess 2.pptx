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13"/>
    <p:sldId id="257" r:id="rId14"/>
    <p:sldId id="258" r:id="rId15"/>
    <p:sldId id="259" r:id="rId12"/>
    <p:sldId id="260" r:id="rId11"/>
    <p:sldId id="261" r:id="rId10"/>
    <p:sldId id="262" r:id="rId9"/>
    <p:sldId id="263" r:id="rId8"/>
    <p:sldId id="264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2502" userDrawn="1">
          <p15:clr>
            <a:srgbClr val="A4A3A4"/>
          </p15:clr>
        </p15:guide>
        <p15:guide id="3" pos="7219" userDrawn="1">
          <p15:clr>
            <a:srgbClr val="A4A3A4"/>
          </p15:clr>
        </p15:guide>
        <p15:guide id="4" pos="461" userDrawn="1">
          <p15:clr>
            <a:srgbClr val="A4A3A4"/>
          </p15:clr>
        </p15:guide>
        <p15:guide id="6" pos="5858" userDrawn="1">
          <p15:clr>
            <a:srgbClr val="A4A3A4"/>
          </p15:clr>
        </p15:guide>
        <p15:guide id="7" pos="914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  <p15:guide id="10" orient="horz" pos="3339" userDrawn="1">
          <p15:clr>
            <a:srgbClr val="A4A3A4"/>
          </p15:clr>
        </p15:guide>
        <p15:guide id="11" orient="horz" pos="6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933FA9-4530-CC0C-B200-34A5E528EFB1}" name="Mikael Tjernlund" initials="MT" userId="S::mikael.tjernlund@timepeoplegroup.com::e6a0e652-2312-45c6-9bab-d6017d75a1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C6C"/>
    <a:srgbClr val="FF40FF"/>
    <a:srgbClr val="FFEFF2"/>
    <a:srgbClr val="FEFBF6"/>
    <a:srgbClr val="FDFBF6"/>
    <a:srgbClr val="2D2D2D"/>
    <a:srgbClr val="BC004B"/>
    <a:srgbClr val="FA9E09"/>
    <a:srgbClr val="ED5E03"/>
    <a:srgbClr val="F9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2110C-C46F-4604-BB1E-EDEC2B1AC112}" v="1" dt="2026-03-11T12:42:08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1" autoAdjust="0"/>
    <p:restoredTop sz="96301"/>
  </p:normalViewPr>
  <p:slideViewPr>
    <p:cSldViewPr snapToGrid="0">
      <p:cViewPr varScale="1">
        <p:scale>
          <a:sx n="74" d="100"/>
          <a:sy n="74" d="100"/>
        </p:scale>
        <p:origin x="86" y="283"/>
      </p:cViewPr>
      <p:guideLst>
        <p:guide orient="horz" pos="3158"/>
        <p:guide pos="2502"/>
        <p:guide pos="7219"/>
        <p:guide pos="461"/>
        <p:guide pos="5858"/>
        <p:guide pos="914"/>
        <p:guide orient="horz" pos="4020"/>
        <p:guide orient="horz" pos="3339"/>
        <p:guide orient="horz" pos="6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Hansson" userId="fa65c237-8dae-4e1f-a943-e8c749b96c9e" providerId="ADAL" clId="{20E77F04-CA6A-4049-B03D-F2F2DA09CC2E}"/>
    <pc:docChg chg="custSel modSld">
      <pc:chgData name="Peter Hansson" userId="fa65c237-8dae-4e1f-a943-e8c749b96c9e" providerId="ADAL" clId="{20E77F04-CA6A-4049-B03D-F2F2DA09CC2E}" dt="2026-03-11T12:42:15.560" v="49" actId="20577"/>
      <pc:docMkLst>
        <pc:docMk/>
      </pc:docMkLst>
      <pc:sldChg chg="modSp mod">
        <pc:chgData name="Peter Hansson" userId="fa65c237-8dae-4e1f-a943-e8c749b96c9e" providerId="ADAL" clId="{20E77F04-CA6A-4049-B03D-F2F2DA09CC2E}" dt="2026-03-11T12:42:15.560" v="49" actId="20577"/>
        <pc:sldMkLst>
          <pc:docMk/>
          <pc:sldMk cId="2949981892" sldId="2147471956"/>
        </pc:sldMkLst>
        <pc:spChg chg="mod">
          <ac:chgData name="Peter Hansson" userId="fa65c237-8dae-4e1f-a943-e8c749b96c9e" providerId="ADAL" clId="{20E77F04-CA6A-4049-B03D-F2F2DA09CC2E}" dt="2026-03-11T12:42:15.560" v="49" actId="20577"/>
          <ac:spMkLst>
            <pc:docMk/>
            <pc:sldMk cId="2949981892" sldId="2147471956"/>
            <ac:spMk id="2" creationId="{0AD5B03C-242F-4AB3-8619-D3D10EC25F7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7D5DD-86F5-C54E-83FD-BD0874919191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BDCCD-5DA6-A045-ABBC-F80B9525A74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44014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och slut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6F82681-7B6E-374C-1AD4-94B95EAF2C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829B2561-71DA-F691-1D2B-2C8AE18601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4039" y="4410993"/>
            <a:ext cx="6059227" cy="2029157"/>
          </a:xfrm>
        </p:spPr>
        <p:txBody>
          <a:bodyPr anchor="b">
            <a:noAutofit/>
          </a:bodyPr>
          <a:lstStyle>
            <a:lvl1pPr algn="r">
              <a:lnSpc>
                <a:spcPct val="95000"/>
              </a:lnSpc>
              <a:defRPr sz="4400" b="1" i="0">
                <a:solidFill>
                  <a:schemeClr val="tx2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B5F57A17-F2B1-383F-87E9-0CD3DF57A2DB}"/>
              </a:ext>
            </a:extLst>
          </p:cNvPr>
          <p:cNvSpPr txBox="1"/>
          <p:nvPr userDrawn="1"/>
        </p:nvSpPr>
        <p:spPr>
          <a:xfrm>
            <a:off x="637746" y="6035387"/>
            <a:ext cx="40171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timepeoplegroup.com</a:t>
            </a:r>
            <a:endParaRPr lang="sv-SE" sz="1500" b="1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Bildobjekt 46">
            <a:extLst>
              <a:ext uri="{FF2B5EF4-FFF2-40B4-BE49-F238E27FC236}">
                <a16:creationId xmlns:a16="http://schemas.microsoft.com/office/drawing/2014/main" id="{BFC4264C-17DE-25B7-0C37-BC2141480B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355" y="3136929"/>
            <a:ext cx="1656000" cy="1656000"/>
          </a:xfrm>
          <a:prstGeom prst="rect">
            <a:avLst/>
          </a:prstGeom>
        </p:spPr>
      </p:pic>
      <p:sp>
        <p:nvSpPr>
          <p:cNvPr id="56" name="Platshållare för bild 55">
            <a:extLst>
              <a:ext uri="{FF2B5EF4-FFF2-40B4-BE49-F238E27FC236}">
                <a16:creationId xmlns:a16="http://schemas.microsoft.com/office/drawing/2014/main" id="{5F88F6D4-2B52-B9E4-47A1-E35A3076C9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68284"/>
          </a:xfrm>
          <a:custGeom>
            <a:avLst/>
            <a:gdLst>
              <a:gd name="connsiteX0" fmla="*/ 0 w 12192000"/>
              <a:gd name="connsiteY0" fmla="*/ 0 h 3968284"/>
              <a:gd name="connsiteX1" fmla="*/ 12192000 w 12192000"/>
              <a:gd name="connsiteY1" fmla="*/ 0 h 3968284"/>
              <a:gd name="connsiteX2" fmla="*/ 12192000 w 12192000"/>
              <a:gd name="connsiteY2" fmla="*/ 3968284 h 3968284"/>
              <a:gd name="connsiteX3" fmla="*/ 2379355 w 12192000"/>
              <a:gd name="connsiteY3" fmla="*/ 3968284 h 3968284"/>
              <a:gd name="connsiteX4" fmla="*/ 2379355 w 12192000"/>
              <a:gd name="connsiteY4" fmla="*/ 3140104 h 3968284"/>
              <a:gd name="connsiteX5" fmla="*/ 723355 w 12192000"/>
              <a:gd name="connsiteY5" fmla="*/ 3140104 h 3968284"/>
              <a:gd name="connsiteX6" fmla="*/ 723355 w 12192000"/>
              <a:gd name="connsiteY6" fmla="*/ 3968284 h 3968284"/>
              <a:gd name="connsiteX7" fmla="*/ 0 w 12192000"/>
              <a:gd name="connsiteY7" fmla="*/ 3968284 h 396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968284">
                <a:moveTo>
                  <a:pt x="0" y="0"/>
                </a:moveTo>
                <a:lnTo>
                  <a:pt x="12192000" y="0"/>
                </a:lnTo>
                <a:lnTo>
                  <a:pt x="12192000" y="3968284"/>
                </a:lnTo>
                <a:lnTo>
                  <a:pt x="2379355" y="3968284"/>
                </a:lnTo>
                <a:lnTo>
                  <a:pt x="2379355" y="3140104"/>
                </a:lnTo>
                <a:lnTo>
                  <a:pt x="723355" y="3140104"/>
                </a:lnTo>
                <a:lnTo>
                  <a:pt x="723355" y="3968284"/>
                </a:lnTo>
                <a:lnTo>
                  <a:pt x="0" y="39682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36109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1 punktspalt vit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3B67E8EF-4DA7-2097-4422-AAB3F111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0836"/>
            <a:ext cx="10861964" cy="911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A3008A3-52A1-E852-3A6A-00003CC68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99" y="1499772"/>
            <a:ext cx="10835409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5445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1 punktspalt beige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F9BF28D1-3CE4-CFE4-C45C-7B933B1A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0836"/>
            <a:ext cx="10861964" cy="911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4" name="Platshållare för text 2">
            <a:extLst>
              <a:ext uri="{FF2B5EF4-FFF2-40B4-BE49-F238E27FC236}">
                <a16:creationId xmlns:a16="http://schemas.microsoft.com/office/drawing/2014/main" id="{7061D908-573B-85B8-5DE2-1DD159E7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5003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5448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2 punktspalt vit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F4F0ADEE-C356-E181-E630-93262A5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0836"/>
            <a:ext cx="10861964" cy="911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BCC724D2-DCA8-350A-094D-E190646A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500320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6A179134-2113-DA45-6577-6B503D41B22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72200" y="1500320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695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2 punktspalt beige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406A5D04-C22F-481F-43B4-1796DD8A9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0836"/>
            <a:ext cx="10515600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754E9AD2-E78E-63A2-FE14-FEA06C35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500320"/>
            <a:ext cx="527973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F287DB63-868E-2F3E-2C91-142C8145AB9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79127" y="1500320"/>
            <a:ext cx="527973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80903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2 spalt text beige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rubrik 1">
            <a:extLst>
              <a:ext uri="{FF2B5EF4-FFF2-40B4-BE49-F238E27FC236}">
                <a16:creationId xmlns:a16="http://schemas.microsoft.com/office/drawing/2014/main" id="{41746067-17ED-A1C4-FC2B-FB4E2760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69"/>
            <a:ext cx="10861964" cy="911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2" name="Platshållare för text 2">
            <a:extLst>
              <a:ext uri="{FF2B5EF4-FFF2-40B4-BE49-F238E27FC236}">
                <a16:creationId xmlns:a16="http://schemas.microsoft.com/office/drawing/2014/main" id="{8747A126-FA75-E289-4FA3-81EB95C071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300" y="1499745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3" name="Platshållare för text 2">
            <a:extLst>
              <a:ext uri="{FF2B5EF4-FFF2-40B4-BE49-F238E27FC236}">
                <a16:creationId xmlns:a16="http://schemas.microsoft.com/office/drawing/2014/main" id="{794BD357-BFC5-5ECA-06E1-06F81B24E11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72200" y="1499745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9546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2 spalt text vit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B6C39279-5DD8-DAB7-F2D3-44CAFA2A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0836"/>
            <a:ext cx="10861964" cy="911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1B47994F-B0BB-8307-9612-FE4B16D61B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300" y="1499745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CF44C8D7-E8A3-A9EA-2384-7AE0F1EF9A5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72200" y="1499745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06681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 satsyta m rubrik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F7FE6AF-993A-D3A0-D0D2-F10DD049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5" y="570836"/>
            <a:ext cx="5613400" cy="989704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936BC996-C99E-3048-54F0-0604EA6EE0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11825" y="1951170"/>
            <a:ext cx="5590204" cy="3902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bild 8">
            <a:extLst>
              <a:ext uri="{FF2B5EF4-FFF2-40B4-BE49-F238E27FC236}">
                <a16:creationId xmlns:a16="http://schemas.microsoft.com/office/drawing/2014/main" id="{C52154F2-871D-7CE4-8354-30CC0F4D9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1838" y="698500"/>
            <a:ext cx="4373739" cy="52197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75872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 satsytan rubrik m text vit b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>
            <a:extLst>
              <a:ext uri="{FF2B5EF4-FFF2-40B4-BE49-F238E27FC236}">
                <a16:creationId xmlns:a16="http://schemas.microsoft.com/office/drawing/2014/main" id="{CCC9D6D3-F4E8-0E09-528D-B5A984EC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5" y="570836"/>
            <a:ext cx="5613400" cy="989704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25BB2661-7BD7-8218-27B3-FCD2A5B6E1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11825" y="1951170"/>
            <a:ext cx="5590204" cy="3902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bild 8">
            <a:extLst>
              <a:ext uri="{FF2B5EF4-FFF2-40B4-BE49-F238E27FC236}">
                <a16:creationId xmlns:a16="http://schemas.microsoft.com/office/drawing/2014/main" id="{30950576-2C46-05E0-1232-FDA56C5F3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1838" y="698500"/>
            <a:ext cx="4373739" cy="52197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01761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 satsytan rubrik m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>
            <a:extLst>
              <a:ext uri="{FF2B5EF4-FFF2-40B4-BE49-F238E27FC236}">
                <a16:creationId xmlns:a16="http://schemas.microsoft.com/office/drawing/2014/main" id="{2F650B6A-53D1-DA5F-5C26-6F9D4CA3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27" y="570836"/>
            <a:ext cx="5649728" cy="989704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BED9D38C-AED8-7824-32D4-6C0FA42AF5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5227" y="1951170"/>
            <a:ext cx="5626382" cy="3902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bild 8">
            <a:extLst>
              <a:ext uri="{FF2B5EF4-FFF2-40B4-BE49-F238E27FC236}">
                <a16:creationId xmlns:a16="http://schemas.microsoft.com/office/drawing/2014/main" id="{FB9E0686-451C-F49A-4862-0A2566C8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94370" y="698500"/>
            <a:ext cx="4373739" cy="52197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48761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a bild vä rubrik och punktl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>
            <a:extLst>
              <a:ext uri="{FF2B5EF4-FFF2-40B4-BE49-F238E27FC236}">
                <a16:creationId xmlns:a16="http://schemas.microsoft.com/office/drawing/2014/main" id="{7F53CDC7-9A31-EBD5-14D9-2CA25B65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4352" y="570836"/>
            <a:ext cx="4932000" cy="989704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560B1B38-B00F-B750-9205-32BB730E057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7052" y="1951170"/>
            <a:ext cx="4932000" cy="3902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bild 8">
            <a:extLst>
              <a:ext uri="{FF2B5EF4-FFF2-40B4-BE49-F238E27FC236}">
                <a16:creationId xmlns:a16="http://schemas.microsoft.com/office/drawing/2014/main" id="{576DD3C5-3AA5-B69E-A530-160B0DB5A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86764" cy="67896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685466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med 2 bilder satsyta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89832A-FC19-CE1E-E6DE-7297AD34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6" name="Platshållare för bild 8">
            <a:extLst>
              <a:ext uri="{FF2B5EF4-FFF2-40B4-BE49-F238E27FC236}">
                <a16:creationId xmlns:a16="http://schemas.microsoft.com/office/drawing/2014/main" id="{7D88F90D-B23B-AF2C-1097-39E263711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1838" y="1633670"/>
            <a:ext cx="5211762" cy="41783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32" name="Platshållare för bild 8">
            <a:extLst>
              <a:ext uri="{FF2B5EF4-FFF2-40B4-BE49-F238E27FC236}">
                <a16:creationId xmlns:a16="http://schemas.microsoft.com/office/drawing/2014/main" id="{4E885EDE-2E51-CBF3-1712-6EC60F632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8400" y="1633670"/>
            <a:ext cx="5219700" cy="41783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689476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ärsområde_Roller_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CFBD9C28-A2B5-0F30-BA22-3F1F5D0C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46" y="570836"/>
            <a:ext cx="9921612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F0416C71-7588-CB4C-14CA-3A8D125A2B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8346" y="1519370"/>
            <a:ext cx="534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000" indent="-198000">
              <a:lnSpc>
                <a:spcPct val="120000"/>
              </a:lnSpc>
              <a:spcBef>
                <a:spcPts val="800"/>
              </a:spcBef>
              <a:defRPr sz="1500"/>
            </a:lvl1pPr>
            <a:lvl2pPr>
              <a:lnSpc>
                <a:spcPct val="120000"/>
              </a:lnSpc>
              <a:spcBef>
                <a:spcPts val="800"/>
              </a:spcBef>
              <a:defRPr sz="1500"/>
            </a:lvl2pPr>
            <a:lvl3pPr>
              <a:lnSpc>
                <a:spcPct val="120000"/>
              </a:lnSpc>
              <a:spcBef>
                <a:spcPts val="800"/>
              </a:spcBef>
              <a:defRPr/>
            </a:lvl3pPr>
            <a:lvl4pPr>
              <a:lnSpc>
                <a:spcPct val="120000"/>
              </a:lnSpc>
              <a:spcBef>
                <a:spcPts val="800"/>
              </a:spcBef>
              <a:defRPr/>
            </a:lvl4pPr>
            <a:lvl5pPr>
              <a:lnSpc>
                <a:spcPct val="120000"/>
              </a:lnSpc>
              <a:spcBef>
                <a:spcPts val="800"/>
              </a:spcBef>
              <a:defRPr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76A56BF8-74FF-B3A4-3C58-F1B958D9E28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5475" y="1493955"/>
            <a:ext cx="5307445" cy="1981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2" name="Platshållare för text 2">
            <a:extLst>
              <a:ext uri="{FF2B5EF4-FFF2-40B4-BE49-F238E27FC236}">
                <a16:creationId xmlns:a16="http://schemas.microsoft.com/office/drawing/2014/main" id="{4A0E3E6E-26A9-FE4B-6BD9-E5F8DDF1ED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2300" y="4474760"/>
            <a:ext cx="2527300" cy="1594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000" indent="-198000">
              <a:lnSpc>
                <a:spcPct val="120000"/>
              </a:lnSpc>
              <a:spcBef>
                <a:spcPts val="900"/>
              </a:spcBef>
              <a:defRPr sz="1500" b="1"/>
            </a:lvl1pPr>
            <a:lvl2pPr>
              <a:lnSpc>
                <a:spcPct val="120000"/>
              </a:lnSpc>
              <a:spcBef>
                <a:spcPts val="1000"/>
              </a:spcBef>
              <a:defRPr sz="1500"/>
            </a:lvl2pPr>
            <a:lvl3pPr>
              <a:lnSpc>
                <a:spcPct val="120000"/>
              </a:lnSpc>
              <a:spcBef>
                <a:spcPts val="1000"/>
              </a:spcBef>
              <a:defRPr/>
            </a:lvl3pPr>
            <a:lvl4pPr>
              <a:lnSpc>
                <a:spcPct val="120000"/>
              </a:lnSpc>
              <a:spcBef>
                <a:spcPts val="1000"/>
              </a:spcBef>
              <a:defRPr/>
            </a:lvl4pPr>
            <a:lvl5pPr>
              <a:lnSpc>
                <a:spcPct val="120000"/>
              </a:lnSpc>
              <a:spcBef>
                <a:spcPts val="1000"/>
              </a:spcBef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8" name="Platshållare för text 47">
            <a:extLst>
              <a:ext uri="{FF2B5EF4-FFF2-40B4-BE49-F238E27FC236}">
                <a16:creationId xmlns:a16="http://schemas.microsoft.com/office/drawing/2014/main" id="{7355B688-328C-3931-23F0-2A17E123C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300" y="3889780"/>
            <a:ext cx="5359400" cy="520700"/>
          </a:xfrm>
        </p:spPr>
        <p:txBody>
          <a:bodyPr anchor="b"/>
          <a:lstStyle>
            <a:lvl1pPr marL="0" indent="0">
              <a:buFontTx/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Sidrubrik</a:t>
            </a:r>
          </a:p>
        </p:txBody>
      </p:sp>
      <p:sp>
        <p:nvSpPr>
          <p:cNvPr id="74" name="Platshållare för text 2">
            <a:extLst>
              <a:ext uri="{FF2B5EF4-FFF2-40B4-BE49-F238E27FC236}">
                <a16:creationId xmlns:a16="http://schemas.microsoft.com/office/drawing/2014/main" id="{4F426978-CE5B-2F67-57BA-9D615477F88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52800" y="4474760"/>
            <a:ext cx="2527300" cy="1594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000" indent="-198000">
              <a:lnSpc>
                <a:spcPct val="120000"/>
              </a:lnSpc>
              <a:spcBef>
                <a:spcPts val="900"/>
              </a:spcBef>
              <a:defRPr sz="1500" b="1"/>
            </a:lvl1pPr>
            <a:lvl2pPr>
              <a:defRPr sz="1500"/>
            </a:lvl2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" name="Platshållare för bild 8">
            <a:extLst>
              <a:ext uri="{FF2B5EF4-FFF2-40B4-BE49-F238E27FC236}">
                <a16:creationId xmlns:a16="http://schemas.microsoft.com/office/drawing/2014/main" id="{C95709A8-695A-F7CA-D5DF-FECE32E7E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6848" y="523873"/>
            <a:ext cx="648000" cy="648000"/>
          </a:xfrm>
          <a:noFill/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91820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ler punktlista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text 2">
            <a:extLst>
              <a:ext uri="{FF2B5EF4-FFF2-40B4-BE49-F238E27FC236}">
                <a16:creationId xmlns:a16="http://schemas.microsoft.com/office/drawing/2014/main" id="{D5077575-8A50-0C46-0848-0AF5ACE1C2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300" y="1511652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000" indent="-198000">
              <a:lnSpc>
                <a:spcPct val="120000"/>
              </a:lnSpc>
              <a:spcBef>
                <a:spcPts val="1300"/>
              </a:spcBef>
              <a:defRPr sz="17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2" name="Platshållare för text 2">
            <a:extLst>
              <a:ext uri="{FF2B5EF4-FFF2-40B4-BE49-F238E27FC236}">
                <a16:creationId xmlns:a16="http://schemas.microsoft.com/office/drawing/2014/main" id="{1692A503-AAEC-E0ED-8AB8-68DFCD252EE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72200" y="1511652"/>
            <a:ext cx="530744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1400"/>
              </a:spcBef>
              <a:defRPr sz="17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3" name="Platshållare för bild 8">
            <a:extLst>
              <a:ext uri="{FF2B5EF4-FFF2-40B4-BE49-F238E27FC236}">
                <a16:creationId xmlns:a16="http://schemas.microsoft.com/office/drawing/2014/main" id="{84819337-EF99-2451-EE83-2495FC7AF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82625" y="523873"/>
            <a:ext cx="648000" cy="648000"/>
          </a:xfrm>
          <a:noFill/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184A663-6128-97A0-AE68-8B9F4F30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46" y="570836"/>
            <a:ext cx="9921612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40942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sch_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CFBD9C28-A2B5-0F30-BA22-3F1F5D0C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46" y="570836"/>
            <a:ext cx="9921612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F0416C71-7588-CB4C-14CA-3A8D125A2B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4722" y="1998191"/>
            <a:ext cx="5346700" cy="3589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000" indent="-19800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defRPr sz="1500" b="1"/>
            </a:lvl1pPr>
            <a:lvl2pPr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defRPr sz="1500"/>
            </a:lvl2pPr>
            <a:lvl3pPr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defRPr/>
            </a:lvl3pPr>
            <a:lvl4pPr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defRPr/>
            </a:lvl4pPr>
            <a:lvl5pPr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76A56BF8-74FF-B3A4-3C58-F1B958D9E28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5475" y="1493954"/>
            <a:ext cx="5307445" cy="43767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2" name="Platshållare för bild 8">
            <a:extLst>
              <a:ext uri="{FF2B5EF4-FFF2-40B4-BE49-F238E27FC236}">
                <a16:creationId xmlns:a16="http://schemas.microsoft.com/office/drawing/2014/main" id="{C95709A8-695A-F7CA-D5DF-FECE32E7E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6848" y="523873"/>
            <a:ext cx="648000" cy="648000"/>
          </a:xfrm>
          <a:noFill/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3" name="Platshållare för text 47">
            <a:extLst>
              <a:ext uri="{FF2B5EF4-FFF2-40B4-BE49-F238E27FC236}">
                <a16:creationId xmlns:a16="http://schemas.microsoft.com/office/drawing/2014/main" id="{5CABAE39-9CD5-BCFC-A5C4-9A35F47EEB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58346" y="1500304"/>
            <a:ext cx="5359400" cy="454395"/>
          </a:xfrm>
        </p:spPr>
        <p:txBody>
          <a:bodyPr anchor="t"/>
          <a:lstStyle>
            <a:lvl1pPr marL="0" indent="0">
              <a:buFontTx/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Sidrubrik</a:t>
            </a:r>
          </a:p>
        </p:txBody>
      </p:sp>
    </p:spTree>
    <p:extLst>
      <p:ext uri="{BB962C8B-B14F-4D97-AF65-F5344CB8AC3E}">
        <p14:creationId xmlns:p14="http://schemas.microsoft.com/office/powerpoint/2010/main" val="4118449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_4 punkter m ikoner 2 cm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42886FF5-9855-0F38-8B88-45AE98E1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8699"/>
            <a:ext cx="10515600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bild 8">
            <a:extLst>
              <a:ext uri="{FF2B5EF4-FFF2-40B4-BE49-F238E27FC236}">
                <a16:creationId xmlns:a16="http://schemas.microsoft.com/office/drawing/2014/main" id="{AF9C4142-40D4-D22B-0D70-07DAED21C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9613" y="1668108"/>
            <a:ext cx="720000" cy="72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BFBA78C6-FECD-C8EA-C440-60CDF60CC04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546749" y="2275751"/>
            <a:ext cx="4305411" cy="10580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5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9" name="Platshållare för text 47">
            <a:extLst>
              <a:ext uri="{FF2B5EF4-FFF2-40B4-BE49-F238E27FC236}">
                <a16:creationId xmlns:a16="http://schemas.microsoft.com/office/drawing/2014/main" id="{5DBC99BB-3AC0-2126-73F1-B0D71A711E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6749" y="1706656"/>
            <a:ext cx="4274931" cy="520700"/>
          </a:xfrm>
        </p:spPr>
        <p:txBody>
          <a:bodyPr anchor="b"/>
          <a:lstStyle>
            <a:lvl1pPr marL="0" indent="0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Sidrubrik</a:t>
            </a:r>
          </a:p>
        </p:txBody>
      </p:sp>
      <p:sp>
        <p:nvSpPr>
          <p:cNvPr id="10" name="Platshållare för bild 8">
            <a:extLst>
              <a:ext uri="{FF2B5EF4-FFF2-40B4-BE49-F238E27FC236}">
                <a16:creationId xmlns:a16="http://schemas.microsoft.com/office/drawing/2014/main" id="{5DE6D768-BB59-3F91-E027-C7BC9A715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9613" y="3897496"/>
            <a:ext cx="720000" cy="72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1" name="Platshållare för text 2">
            <a:extLst>
              <a:ext uri="{FF2B5EF4-FFF2-40B4-BE49-F238E27FC236}">
                <a16:creationId xmlns:a16="http://schemas.microsoft.com/office/drawing/2014/main" id="{D7DFC58E-451D-91E8-84B0-61B99157559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546748" y="4505139"/>
            <a:ext cx="4325731" cy="10580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5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2" name="Platshållare för text 47">
            <a:extLst>
              <a:ext uri="{FF2B5EF4-FFF2-40B4-BE49-F238E27FC236}">
                <a16:creationId xmlns:a16="http://schemas.microsoft.com/office/drawing/2014/main" id="{886B83EF-AB11-D4E1-004F-CC63A5A8E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46748" y="3946802"/>
            <a:ext cx="4305412" cy="520700"/>
          </a:xfrm>
        </p:spPr>
        <p:txBody>
          <a:bodyPr anchor="b"/>
          <a:lstStyle>
            <a:lvl1pPr marL="0" indent="0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Sidrubrik</a:t>
            </a:r>
          </a:p>
        </p:txBody>
      </p:sp>
      <p:sp>
        <p:nvSpPr>
          <p:cNvPr id="38" name="Platshållare för bild 8">
            <a:extLst>
              <a:ext uri="{FF2B5EF4-FFF2-40B4-BE49-F238E27FC236}">
                <a16:creationId xmlns:a16="http://schemas.microsoft.com/office/drawing/2014/main" id="{36A6694B-5F4B-7475-2464-C3EC69B83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62349" y="1668108"/>
            <a:ext cx="720000" cy="72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39" name="Platshållare för text 2">
            <a:extLst>
              <a:ext uri="{FF2B5EF4-FFF2-40B4-BE49-F238E27FC236}">
                <a16:creationId xmlns:a16="http://schemas.microsoft.com/office/drawing/2014/main" id="{687E3287-2BD1-4389-1315-32EEA153DC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099485" y="2275751"/>
            <a:ext cx="4390762" cy="10580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5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40" name="Platshållare för text 47">
            <a:extLst>
              <a:ext uri="{FF2B5EF4-FFF2-40B4-BE49-F238E27FC236}">
                <a16:creationId xmlns:a16="http://schemas.microsoft.com/office/drawing/2014/main" id="{0E75F0C5-C27C-01A8-6931-85CA2901CE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99485" y="1706656"/>
            <a:ext cx="4380006" cy="520700"/>
          </a:xfrm>
        </p:spPr>
        <p:txBody>
          <a:bodyPr anchor="b"/>
          <a:lstStyle>
            <a:lvl1pPr marL="0" indent="0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Sidrubrik</a:t>
            </a:r>
          </a:p>
        </p:txBody>
      </p:sp>
      <p:sp>
        <p:nvSpPr>
          <p:cNvPr id="41" name="Platshållare för bild 8">
            <a:extLst>
              <a:ext uri="{FF2B5EF4-FFF2-40B4-BE49-F238E27FC236}">
                <a16:creationId xmlns:a16="http://schemas.microsoft.com/office/drawing/2014/main" id="{BF4FF244-EE4B-EECE-E0C9-19DF0842F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62349" y="3897496"/>
            <a:ext cx="720000" cy="72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42" name="Platshållare för text 2">
            <a:extLst>
              <a:ext uri="{FF2B5EF4-FFF2-40B4-BE49-F238E27FC236}">
                <a16:creationId xmlns:a16="http://schemas.microsoft.com/office/drawing/2014/main" id="{063A0F09-3D14-D173-72C8-8FB824E53D1C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099484" y="4505139"/>
            <a:ext cx="4380005" cy="10580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500"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43" name="Platshållare för text 47">
            <a:extLst>
              <a:ext uri="{FF2B5EF4-FFF2-40B4-BE49-F238E27FC236}">
                <a16:creationId xmlns:a16="http://schemas.microsoft.com/office/drawing/2014/main" id="{A56094DF-CD48-B3B0-A621-C0352A7E41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99484" y="3946802"/>
            <a:ext cx="4369248" cy="520700"/>
          </a:xfrm>
        </p:spPr>
        <p:txBody>
          <a:bodyPr anchor="b"/>
          <a:lstStyle>
            <a:lvl1pPr marL="0" indent="0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 dirty="0"/>
              <a:t>Sidrubrik</a:t>
            </a:r>
          </a:p>
        </p:txBody>
      </p:sp>
    </p:spTree>
    <p:extLst>
      <p:ext uri="{BB962C8B-B14F-4D97-AF65-F5344CB8AC3E}">
        <p14:creationId xmlns:p14="http://schemas.microsoft.com/office/powerpoint/2010/main" val="242297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beige ba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rubrik 1">
            <a:extLst>
              <a:ext uri="{FF2B5EF4-FFF2-40B4-BE49-F238E27FC236}">
                <a16:creationId xmlns:a16="http://schemas.microsoft.com/office/drawing/2014/main" id="{1CBD8581-C335-579D-B95C-CB4A84E1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69"/>
            <a:ext cx="10515600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68075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413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vit bak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F05B802E-643F-E98C-8307-666066C51E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1063C244-93CE-682B-FCA1-3CF4E3671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4806" y="6083300"/>
            <a:ext cx="652268" cy="537724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22A4AE3B-527B-CF0A-238D-5B801B78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866010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sida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8">
            <a:extLst>
              <a:ext uri="{FF2B5EF4-FFF2-40B4-BE49-F238E27FC236}">
                <a16:creationId xmlns:a16="http://schemas.microsoft.com/office/drawing/2014/main" id="{BC9649BE-89E3-6732-0609-9D6020DB8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765233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Beige bakgr m log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98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Vit bakgr m logg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857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ut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4AA2C5B4-F50B-929C-94A4-4707F6755F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829B2561-71DA-F691-1D2B-2C8AE18601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4039" y="4923692"/>
            <a:ext cx="6059227" cy="1516458"/>
          </a:xfrm>
        </p:spPr>
        <p:txBody>
          <a:bodyPr anchor="b">
            <a:noAutofit/>
          </a:bodyPr>
          <a:lstStyle>
            <a:lvl1pPr algn="r">
              <a:lnSpc>
                <a:spcPct val="95000"/>
              </a:lnSpc>
              <a:defRPr sz="4400" b="1" i="0">
                <a:solidFill>
                  <a:schemeClr val="tx2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B5F57A17-F2B1-383F-87E9-0CD3DF57A2DB}"/>
              </a:ext>
            </a:extLst>
          </p:cNvPr>
          <p:cNvSpPr txBox="1"/>
          <p:nvPr userDrawn="1"/>
        </p:nvSpPr>
        <p:spPr>
          <a:xfrm>
            <a:off x="637746" y="6035387"/>
            <a:ext cx="40171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b="1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timepeoplegroup.com</a:t>
            </a:r>
            <a:endParaRPr lang="sv-SE" sz="15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Bildobjekt 46">
            <a:extLst>
              <a:ext uri="{FF2B5EF4-FFF2-40B4-BE49-F238E27FC236}">
                <a16:creationId xmlns:a16="http://schemas.microsoft.com/office/drawing/2014/main" id="{BFC4264C-17DE-25B7-0C37-BC2141480B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355" y="3961537"/>
            <a:ext cx="1656000" cy="1656000"/>
          </a:xfrm>
          <a:prstGeom prst="rect">
            <a:avLst/>
          </a:prstGeom>
        </p:spPr>
      </p:pic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33FE7126-A13A-786C-DCCE-507F185EF5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4792892"/>
          </a:xfrm>
          <a:custGeom>
            <a:avLst/>
            <a:gdLst>
              <a:gd name="connsiteX0" fmla="*/ 0 w 12192000"/>
              <a:gd name="connsiteY0" fmla="*/ 0 h 4792892"/>
              <a:gd name="connsiteX1" fmla="*/ 12192000 w 12192000"/>
              <a:gd name="connsiteY1" fmla="*/ 0 h 4792892"/>
              <a:gd name="connsiteX2" fmla="*/ 12192000 w 12192000"/>
              <a:gd name="connsiteY2" fmla="*/ 824608 h 4792892"/>
              <a:gd name="connsiteX3" fmla="*/ 12192000 w 12192000"/>
              <a:gd name="connsiteY3" fmla="*/ 1292225 h 4792892"/>
              <a:gd name="connsiteX4" fmla="*/ 12192000 w 12192000"/>
              <a:gd name="connsiteY4" fmla="*/ 4792892 h 4792892"/>
              <a:gd name="connsiteX5" fmla="*/ 2379355 w 12192000"/>
              <a:gd name="connsiteY5" fmla="*/ 4792892 h 4792892"/>
              <a:gd name="connsiteX6" fmla="*/ 2379355 w 12192000"/>
              <a:gd name="connsiteY6" fmla="*/ 3964712 h 4792892"/>
              <a:gd name="connsiteX7" fmla="*/ 723355 w 12192000"/>
              <a:gd name="connsiteY7" fmla="*/ 3964712 h 4792892"/>
              <a:gd name="connsiteX8" fmla="*/ 723355 w 12192000"/>
              <a:gd name="connsiteY8" fmla="*/ 4792892 h 4792892"/>
              <a:gd name="connsiteX9" fmla="*/ 0 w 12192000"/>
              <a:gd name="connsiteY9" fmla="*/ 4792892 h 4792892"/>
              <a:gd name="connsiteX10" fmla="*/ 0 w 12192000"/>
              <a:gd name="connsiteY10" fmla="*/ 1292225 h 4792892"/>
              <a:gd name="connsiteX11" fmla="*/ 0 w 12192000"/>
              <a:gd name="connsiteY11" fmla="*/ 824608 h 479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792892">
                <a:moveTo>
                  <a:pt x="0" y="0"/>
                </a:moveTo>
                <a:lnTo>
                  <a:pt x="12192000" y="0"/>
                </a:lnTo>
                <a:lnTo>
                  <a:pt x="12192000" y="824608"/>
                </a:lnTo>
                <a:lnTo>
                  <a:pt x="12192000" y="1292225"/>
                </a:lnTo>
                <a:lnTo>
                  <a:pt x="12192000" y="4792892"/>
                </a:lnTo>
                <a:lnTo>
                  <a:pt x="2379355" y="4792892"/>
                </a:lnTo>
                <a:lnTo>
                  <a:pt x="2379355" y="3964712"/>
                </a:lnTo>
                <a:lnTo>
                  <a:pt x="723355" y="3964712"/>
                </a:lnTo>
                <a:lnTo>
                  <a:pt x="723355" y="4792892"/>
                </a:lnTo>
                <a:lnTo>
                  <a:pt x="0" y="4792892"/>
                </a:lnTo>
                <a:lnTo>
                  <a:pt x="0" y="1292225"/>
                </a:lnTo>
                <a:lnTo>
                  <a:pt x="0" y="8246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435564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delare_Signalrö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FF190D95-0526-5505-B516-B4608CCD92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45A71D7-69ED-D7E1-83C7-5C0D05A0FE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Platshållare för rubrik 1">
            <a:extLst>
              <a:ext uri="{FF2B5EF4-FFF2-40B4-BE49-F238E27FC236}">
                <a16:creationId xmlns:a16="http://schemas.microsoft.com/office/drawing/2014/main" id="{985C648B-16ED-3243-D9B8-9307D06BE6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5434" y="1724484"/>
            <a:ext cx="5479915" cy="9897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10" name="Platshållare för text 43">
            <a:extLst>
              <a:ext uri="{FF2B5EF4-FFF2-40B4-BE49-F238E27FC236}">
                <a16:creationId xmlns:a16="http://schemas.microsoft.com/office/drawing/2014/main" id="{2CB60269-5E2C-D178-40B1-940F2545F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350" y="2626859"/>
            <a:ext cx="5529033" cy="1293812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bild 8">
            <a:extLst>
              <a:ext uri="{FF2B5EF4-FFF2-40B4-BE49-F238E27FC236}">
                <a16:creationId xmlns:a16="http://schemas.microsoft.com/office/drawing/2014/main" id="{1B5927FF-DC70-1DE3-4665-327F49F1D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154113" y="1406525"/>
            <a:ext cx="3960000" cy="39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041317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delar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DF7D59D5-0130-B20A-8379-741B2CB0452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4D0E36A4-D837-6DF6-BA23-DAD5A30081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8">
            <a:extLst>
              <a:ext uri="{FF2B5EF4-FFF2-40B4-BE49-F238E27FC236}">
                <a16:creationId xmlns:a16="http://schemas.microsoft.com/office/drawing/2014/main" id="{0FE8BECC-7AD8-94DC-453E-8D690A203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154113" y="1406525"/>
            <a:ext cx="3960000" cy="39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rubrik 1">
            <a:extLst>
              <a:ext uri="{FF2B5EF4-FFF2-40B4-BE49-F238E27FC236}">
                <a16:creationId xmlns:a16="http://schemas.microsoft.com/office/drawing/2014/main" id="{9C7374C7-48DE-F738-5C1F-69D966C28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5434" y="1724484"/>
            <a:ext cx="5479915" cy="9897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5" name="Platshållare för text 43">
            <a:extLst>
              <a:ext uri="{FF2B5EF4-FFF2-40B4-BE49-F238E27FC236}">
                <a16:creationId xmlns:a16="http://schemas.microsoft.com/office/drawing/2014/main" id="{535B7C4D-F348-E785-E266-A550D107E8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350" y="2626859"/>
            <a:ext cx="5529033" cy="1293812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580447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delare_okt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6238DB8-7977-7003-D2B3-3735961E3F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606F1C1-377B-B72C-CC62-1F5689DE0B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Platshållare för bild 8">
            <a:extLst>
              <a:ext uri="{FF2B5EF4-FFF2-40B4-BE49-F238E27FC236}">
                <a16:creationId xmlns:a16="http://schemas.microsoft.com/office/drawing/2014/main" id="{357C37E0-CE6F-DC78-01FE-BD4CDBD98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154113" y="1406525"/>
            <a:ext cx="3960000" cy="39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3" name="Platshållare för rubrik 1">
            <a:extLst>
              <a:ext uri="{FF2B5EF4-FFF2-40B4-BE49-F238E27FC236}">
                <a16:creationId xmlns:a16="http://schemas.microsoft.com/office/drawing/2014/main" id="{48ACC883-2380-A31E-8468-AA4B2A312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5434" y="1724484"/>
            <a:ext cx="5479915" cy="9897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4" name="Platshållare för text 43">
            <a:extLst>
              <a:ext uri="{FF2B5EF4-FFF2-40B4-BE49-F238E27FC236}">
                <a16:creationId xmlns:a16="http://schemas.microsoft.com/office/drawing/2014/main" id="{B1BC190F-E3AA-4D8C-E9D8-05E11CA52A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350" y="2626859"/>
            <a:ext cx="5529033" cy="1293812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66718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vit bakgr ingen log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8A841F57-03F2-0769-2BAE-2D915F8F09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59513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beige bakgr ingen log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D257462C-25A1-B66F-8AE2-0EB2EAAFE2E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FEF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6858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6F27AFD1-74CC-62B6-C3CB-274894DD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0836"/>
            <a:ext cx="10515600" cy="989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5CD3282-BAD2-3EF2-5668-4ABFBCD93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50978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4F761AE-5829-9791-CFEE-B3040656E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5000" y="6415631"/>
            <a:ext cx="195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/>
                </a:solidFill>
              </a:defRPr>
            </a:lvl1pPr>
          </a:lstStyle>
          <a:p>
            <a:fld id="{A2E786AF-60F1-5F46-9599-22988B56729B}" type="datetime1">
              <a:rPr lang="sv-SE" smtClean="0"/>
              <a:pPr/>
              <a:t>2026-03-11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5308303-01DB-DB91-B782-760B7C134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6415631"/>
            <a:ext cx="3517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Plats för underrubrik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903C216-E79B-43ED-2F27-B38B529B8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9974" y="6415631"/>
            <a:ext cx="676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2A4F23-4227-4533-A0AC-A2F1353033C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9E45D07-9661-F8F1-2042-903AE9724C07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4294" y="5977595"/>
            <a:ext cx="676800" cy="6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1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664" r:id="rId2"/>
    <p:sldLayoutId id="2147483717" r:id="rId3"/>
    <p:sldLayoutId id="2147483715" r:id="rId4"/>
    <p:sldLayoutId id="2147483719" r:id="rId5"/>
    <p:sldLayoutId id="2147483718" r:id="rId6"/>
    <p:sldLayoutId id="2147483728" r:id="rId7"/>
    <p:sldLayoutId id="2147483724" r:id="rId8"/>
    <p:sldLayoutId id="2147483730" r:id="rId9"/>
    <p:sldLayoutId id="2147483731" r:id="rId10"/>
    <p:sldLayoutId id="2147483729" r:id="rId11"/>
    <p:sldLayoutId id="2147483725" r:id="rId12"/>
    <p:sldLayoutId id="2147483720" r:id="rId13"/>
    <p:sldLayoutId id="2147483727" r:id="rId14"/>
    <p:sldLayoutId id="2147483739" r:id="rId15"/>
    <p:sldLayoutId id="2147483726" r:id="rId16"/>
    <p:sldLayoutId id="2147483662" r:id="rId17"/>
    <p:sldLayoutId id="2147483716" r:id="rId18"/>
    <p:sldLayoutId id="2147483671" r:id="rId19"/>
    <p:sldLayoutId id="2147483684" r:id="rId20"/>
    <p:sldLayoutId id="2147483687" r:id="rId21"/>
    <p:sldLayoutId id="2147483736" r:id="rId22"/>
    <p:sldLayoutId id="2147483714" r:id="rId23"/>
    <p:sldLayoutId id="2147483723" r:id="rId24"/>
    <p:sldLayoutId id="2147483722" r:id="rId25"/>
    <p:sldLayoutId id="2147483706" r:id="rId26"/>
    <p:sldLayoutId id="2147483672" r:id="rId27"/>
  </p:sldLayoutIdLs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400" b="1" i="0" kern="1200">
          <a:solidFill>
            <a:schemeClr val="tx2"/>
          </a:solidFill>
          <a:latin typeface="Arial" panose="020B0604020202020204" pitchFamily="34" charset="0"/>
          <a:ea typeface="Inter" panose="02000503000000020004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SzPct val="115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Inter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itchFamily="2" charset="2"/>
        <a:buChar char="§"/>
        <a:defRPr sz="1700" b="0" i="0" kern="1200">
          <a:solidFill>
            <a:schemeClr val="tx1"/>
          </a:solidFill>
          <a:latin typeface="Arial" panose="020B0604020202020204" pitchFamily="34" charset="0"/>
          <a:ea typeface="Inter" panose="020005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Arial" panose="020B0604020202020204" pitchFamily="34" charset="0"/>
          <a:ea typeface="Inter" panose="020005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itchFamily="2" charset="2"/>
        <a:buChar char="§"/>
        <a:defRPr sz="1300" b="0" i="0" kern="1200">
          <a:solidFill>
            <a:schemeClr val="tx1"/>
          </a:solidFill>
          <a:latin typeface="Arial" panose="020B0604020202020204" pitchFamily="34" charset="0"/>
          <a:ea typeface="Inter" panose="020005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Courier New" panose="02070309020205020404" pitchFamily="49" charset="0"/>
        <a:buChar char="o"/>
        <a:defRPr sz="1100" b="0" i="0" kern="1200">
          <a:solidFill>
            <a:schemeClr val="tx1"/>
          </a:solidFill>
          <a:latin typeface="Arial" panose="020B0604020202020204" pitchFamily="34" charset="0"/>
          <a:ea typeface="Inter" panose="020005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Koda som ett Ess</a:t>
            </a:r>
          </a:p>
          <a:p>
            <a:r>
              <a:rPr sz="2400"/>
              <a:t>Pass 2: AI som medarbetare</a:t>
            </a:r>
          </a:p>
          <a:p>
            <a:r>
              <a:rPr sz="2400"/>
              <a:t>Peter Hansson, Novatrox</a:t>
            </a:r>
          </a:p>
          <a:p>
            <a:r>
              <a:rPr sz="2400"/>
              <a:t>Anders Viljosson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Övning 2: Kontextfil är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600"/>
              <a:t>UTAN kontext</a:t>
            </a:r>
          </a:p>
          <a:p>
            <a:pPr lvl="1"/>
            <a:r>
              <a:rPr sz="1300"/>
              <a:t>✗  Engelska texter</a:t>
            </a:r>
          </a:p>
          <a:p>
            <a:pPr lvl="1"/>
            <a:r>
              <a:rPr sz="1300"/>
              <a:t>✗  Inga type hints</a:t>
            </a:r>
          </a:p>
          <a:p>
            <a:pPr lvl="1"/>
            <a:r>
              <a:rPr sz="1300"/>
              <a:t>✗  Random struktur</a:t>
            </a:r>
          </a:p>
          <a:p>
            <a:pPr lvl="1"/>
            <a:r>
              <a:rPr sz="1300"/>
              <a:t>✗  pip install X</a:t>
            </a:r>
          </a:p>
          <a:p>
            <a:pPr lvl="1"/>
            <a:r>
              <a:rPr sz="1300"/>
              <a:t>✗  Ingen felhantering</a:t>
            </a:r>
          </a:p>
          <a:p>
            <a:pPr>
              <a:spcBef>
                <a:spcPts val="1600"/>
              </a:spcBef>
            </a:pPr>
            <a:r>
              <a:rPr b="1" sz="1600"/>
              <a:t>MED CLAUDE.md (15 rader)</a:t>
            </a:r>
          </a:p>
          <a:p>
            <a:pPr lvl="1"/>
            <a:r>
              <a:rPr sz="1300"/>
              <a:t>✓  Svenska hjälptexter</a:t>
            </a:r>
          </a:p>
          <a:p>
            <a:pPr lvl="1"/>
            <a:r>
              <a:rPr sz="1300"/>
              <a:t>✓  Type hints överallt</a:t>
            </a:r>
          </a:p>
          <a:p>
            <a:pPr lvl="1"/>
            <a:r>
              <a:rPr sz="1300"/>
              <a:t>✓  Tydliga exit-koder</a:t>
            </a:r>
          </a:p>
          <a:p>
            <a:pPr lvl="1"/>
            <a:r>
              <a:rPr sz="1300"/>
              <a:t>✓  Bara standardbiblioteket</a:t>
            </a:r>
          </a:p>
          <a:p>
            <a:pPr lvl="1"/>
            <a:r>
              <a:rPr sz="1300"/>
              <a:t>✓  Docstrings, argparse</a:t>
            </a:r>
          </a:p>
          <a:p>
            <a:pPr lvl="1"/>
            <a:r>
              <a:rPr sz="1300"/>
              <a:t>✓  if __name__ == "__main__"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b="1" sz="1400"/>
              <a:t>Samma prompt — helt olika resultat</a:t>
            </a:r>
            <a:r>
              <a:rPr sz="1400"/>
              <a:t>
Kontextfilen styr AI:ns beteende utan att du ändrar prompten.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Teamet delar konventioner via git</a:t>
            </a:r>
            <a:r>
              <a:rPr sz="1400"/>
              <a:t>
Alla får samma AI-beteende, oavsett om de kör Gemini, Claude eller Cursor.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Lägg till en ny regel — AI följer automatiskt</a:t>
            </a:r>
            <a:r>
              <a:rPr sz="1400"/>
              <a:t>
Steg 4: lägg till --json/--text i kontextfilen. AI följer det utan att du nämner det.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Kontextfil: varför det fungerar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400"/>
              <a:t>15 rader kontext &gt; 150 rader prompt-engineering</a:t>
            </a:r>
            <a:r>
              <a:rPr sz="1400"/>
              <a:t>
Kontexten är bestående — prompten är tillfällig. Skriv en gång, används hundratals gånger.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Onboarding för AI = onboarding för nya utvecklare</a:t>
            </a:r>
            <a:r>
              <a:rPr sz="1400"/>
              <a:t>
Samma .md-fil som hjälper AI:n hjälper också nya teammedlemmar förstå konventionerna.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Fungerar med alla verktyg</a:t>
            </a:r>
            <a:r>
              <a:rPr sz="1400"/>
              <a:t>
CLAUDE.md, GEMINI.md, .cursor/rules — samma innehåll, olika filnamn. Alla i teamet delar via git.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Investera 10 min, spara timmar</a:t>
            </a:r>
            <a:r>
              <a:rPr sz="1400"/>
              <a:t>
Varje framtida interaktion med AI:n följer teamets konventioner — utan att du behöver upprepa dem.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Övning 3: TDD med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600"/>
              <a:t>Ny arbetsdelning</a:t>
            </a:r>
          </a:p>
          <a:p>
            <a:pPr>
              <a:spcBef>
                <a:spcPts val="800"/>
              </a:spcBef>
            </a:pPr>
            <a:r>
              <a:rPr b="1" sz="1300"/>
              <a:t>Traditionellt:</a:t>
            </a:r>
          </a:p>
          <a:p>
            <a:r>
              <a:rPr sz="1300"/>
              <a:t>Människa skriver spec → implementerar → testar → fixar</a:t>
            </a:r>
          </a:p>
          <a:p>
            <a:pPr>
              <a:spcBef>
                <a:spcPts val="800"/>
              </a:spcBef>
            </a:pPr>
            <a:r>
              <a:rPr b="1" sz="1300"/>
              <a:t>Med AI:</a:t>
            </a:r>
          </a:p>
          <a:p>
            <a:r>
              <a:rPr sz="1300"/>
              <a:t>Människa skriver TESTER → AI implementerar → AI kör + fixar → grönt</a:t>
            </a:r>
          </a:p>
          <a:p>
            <a:pPr>
              <a:spcBef>
                <a:spcPts val="1200"/>
              </a:spcBef>
            </a:pPr>
            <a:r>
              <a:rPr b="1" sz="1600"/>
              <a:t>Iterativ loop</a:t>
            </a:r>
          </a:p>
          <a:p>
            <a:pPr lvl="1"/>
            <a:r>
              <a:rPr sz="1300"/>
              <a:t>26 tester → AI läser → implementerar</a:t>
            </a:r>
          </a:p>
          <a:p>
            <a:pPr lvl="1"/>
            <a:r>
              <a:rPr sz="1300"/>
              <a:t>Kör pytest → fixar fel → kör igen</a:t>
            </a:r>
          </a:p>
          <a:p>
            <a:pPr lvl="1"/>
            <a:r>
              <a:rPr sz="1300"/>
              <a:t>1–3 iterationer till grönt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b="1" sz="1400"/>
              <a:t>Tester är den mest exakta prompten</a:t>
            </a:r>
            <a:r>
              <a:rPr sz="1400"/>
              <a:t>
Ingen tvetydighet — körbar, verifierbar, ingen "lost in translation".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Du fokuserar på VAD, AI:n på HUR</a:t>
            </a:r>
            <a:r>
              <a:rPr sz="1400"/>
              <a:t>
Du specificerar affärsregler som tester. AI väljer implementation.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AI itererar snabbare än du</a:t>
            </a:r>
            <a:r>
              <a:rPr sz="1400"/>
              <a:t>
Implementera → test → fix → test. Agentisk loop tills allt är grönt.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 med AI: vinster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400"/>
              <a:t>Fungerar för logik OCH GUI</a:t>
            </a:r>
            <a:r>
              <a:rPr sz="1400"/>
              <a:t>
26 backend-tester + 13 tkinter UI-tester. Samma princip, helt olika lager.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Ny affärsregel? Skriv ETT test</a:t>
            </a:r>
            <a:r>
              <a:rPr sz="1400"/>
              <a:t>
test_weekend_surcharge → AI implementerar helgpåslag på 30 sekunder.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100% testtäckning från dag 1</a:t>
            </a:r>
            <a:r>
              <a:rPr sz="1400"/>
              <a:t>
Testerna existerar innan koden — du börjar aldrig med teknisk skuld.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Perfekt arbetsdelning</a:t>
            </a:r>
            <a:r>
              <a:rPr sz="1400"/>
              <a:t>
Människa specificerar, AI implementerar och itererar. Du behåller kontrollen via testerna.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Övning 4: AI-review mot kodstandarden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600"/>
              <a:t>Professionellt arbetsflöde</a:t>
            </a:r>
          </a:p>
          <a:p>
            <a:pPr lvl="1"/>
            <a:r>
              <a:rPr sz="1300"/>
              <a:t>1. Fork + branch</a:t>
            </a:r>
          </a:p>
          <a:p>
            <a:pPr lvl="1"/>
            <a:r>
              <a:rPr sz="1300"/>
              <a:t>2. Koda med AI (Gemini/Claude)</a:t>
            </a:r>
          </a:p>
          <a:p>
            <a:pPr lvl="1"/>
            <a:r>
              <a:rPr sz="1300"/>
              <a:t>3. Commit + push + öppna PR</a:t>
            </a:r>
          </a:p>
          <a:p>
            <a:pPr lvl="1"/>
            <a:r>
              <a:rPr sz="1300"/>
              <a:t>4. AI-review via GitHub Action</a:t>
            </a:r>
          </a:p>
          <a:p>
            <a:pPr lvl="1"/>
            <a:r>
              <a:rPr sz="1300"/>
              <a:t>5. Fixa avvikelser → ny review</a:t>
            </a:r>
          </a:p>
          <a:p>
            <a:pPr lvl="1"/>
            <a:r>
              <a:rPr sz="1300"/>
              <a:t>6. Merge när godkänt</a:t>
            </a:r>
          </a:p>
          <a:p>
            <a:pPr>
              <a:spcBef>
                <a:spcPts val="1200"/>
              </a:spcBef>
            </a:pPr>
            <a:r>
              <a:rPr b="1" sz="1600"/>
              <a:t>Tvåsidigt AI-skydd</a:t>
            </a:r>
          </a:p>
          <a:p>
            <a:pPr lvl="1"/>
            <a:r>
              <a:rPr sz="1300"/>
              <a:t>Skrivande AI följer kontextfilen (övning 2)</a:t>
            </a:r>
          </a:p>
          <a:p>
            <a:pPr lvl="1"/>
            <a:r>
              <a:rPr sz="1300"/>
              <a:t>Tester fångar logikfel (övning 3)</a:t>
            </a:r>
          </a:p>
          <a:p>
            <a:pPr lvl="1"/>
            <a:r>
              <a:rPr sz="1300"/>
              <a:t>Granskande AI fångar stilfel mot kodstandard.md</a:t>
            </a:r>
          </a:p>
          <a:p>
            <a:pPr lvl="1"/>
            <a:r>
              <a:rPr sz="1300"/>
              <a:t>Merge blockeras vid avvikelser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b="1" sz="1400"/>
              <a:t>Automatisk kvalitetsgrind på varje PR</a:t>
            </a:r>
            <a:r>
              <a:rPr sz="1400"/>
              <a:t>
Kodstandarden genomdrivs konsekvent — ingen "det där låter vi gå".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Olika AI vid skrivning vs granskning</a:t>
            </a:r>
            <a:r>
              <a:rPr sz="1400"/>
              <a:t>
Fräscha ögon fångar fler problem. AI:n som skrev koden hittar sällan sina egna misstag.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Speglar riktigt utvecklararbetsflöde</a:t>
            </a:r>
            <a:r>
              <a:rPr sz="1400"/>
              <a:t>
Fork → branch → PR → review. Samma process som på jobbet, med AI i varje steg.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AI-review: varför det fungerar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400"/>
              <a:t>Du är granskare, inte skribent</a:t>
            </a:r>
            <a:r>
              <a:rPr sz="1400"/>
              <a:t>
Högre nivå — du styr arkitektur och kvalitet istället för att skriva varje rad.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AI ersätter inte mänsklig granskning</a:t>
            </a:r>
            <a:r>
              <a:rPr sz="1400"/>
              <a:t>
Men den fångar det du missar. Precis som CI-tester är en extra säkerhetsnivå.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Kontext styr även granskningen</a:t>
            </a:r>
            <a:r>
              <a:rPr sz="1400"/>
              <a:t>
Utan kodstandard.md ger AI:n generisk feedback. Med den pekar den ut specifika avvikelser mot ert regelverk.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Övning 4 knyter ihop allt</a:t>
            </a:r>
            <a:r>
              <a:rPr sz="1400"/>
              <a:t>
Kontext (övning 2) + TDD (övning 3) + agentiskt arbete + automatisk granskning = komplett arbetsflöde.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 principer att ta 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1400"/>
              <a:t>1. Kontext först (övning 2)</a:t>
            </a:r>
            <a:r>
              <a:rPr sz="1400"/>
              <a:t>
15 rader i en .md-fil &gt; clevera prompts. Hela teamet får konsekvent AI-beteende.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2. Tester som spec (övning 3)</a:t>
            </a:r>
            <a:r>
              <a:rPr sz="1400"/>
              <a:t>
Skriv vad du vill ha, låt AI skriva hur. Människa specificerar, AI implementerar och itererar.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3. AI som kollega, inte verktyg (övning 4)</a:t>
            </a:r>
            <a:r>
              <a:rPr sz="1400"/>
              <a:t>
Ge uppdraget, låt agenten jobba. Du granskar — högre nivå, bättre resultat.</a:t>
            </a:r>
          </a:p>
          <a:p>
            <a:pPr>
              <a:spcAft>
                <a:spcPts val="400"/>
              </a:spcAft>
            </a:pPr>
          </a:p>
          <a:p>
            <a:r>
              <a:rPr b="1" sz="1400"/>
              <a:t>Gemensam nämnare</a:t>
            </a:r>
            <a:r>
              <a:rPr sz="1400"/>
              <a:t>
Du höjer dig från SKRIBENT till ARKITEKT och GRANSKARE.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peter.hansson@novatrox.se</a:t>
            </a:r>
          </a:p>
          <a:p>
            <a:r>
              <a:rPr sz="2400"/>
              <a:t>anders@viljo.se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TPG färger_2025_6okt_2">
      <a:dk1>
        <a:srgbClr val="2C2C2C"/>
      </a:dk1>
      <a:lt1>
        <a:srgbClr val="FFFFFF"/>
      </a:lt1>
      <a:dk2>
        <a:srgbClr val="B3003C"/>
      </a:dk2>
      <a:lt2>
        <a:srgbClr val="FDFBF6"/>
      </a:lt2>
      <a:accent1>
        <a:srgbClr val="FF5B5B"/>
      </a:accent1>
      <a:accent2>
        <a:srgbClr val="3A8EAE"/>
      </a:accent2>
      <a:accent3>
        <a:srgbClr val="730026"/>
      </a:accent3>
      <a:accent4>
        <a:srgbClr val="105D79"/>
      </a:accent4>
      <a:accent5>
        <a:srgbClr val="FFAE00"/>
      </a:accent5>
      <a:accent6>
        <a:srgbClr val="A3A3A3"/>
      </a:accent6>
      <a:hlink>
        <a:srgbClr val="730026"/>
      </a:hlink>
      <a:folHlink>
        <a:srgbClr val="FFAE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PG_2025_mall" id="{1EE0D897-21CA-5A44-9DED-3A066237CD8E}" vid="{B7354947-BA29-DA41-800E-C1D3C6323A8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239030A59D78B4081EB30035D3D7D8C" ma:contentTypeVersion="11" ma:contentTypeDescription="Skapa ett nytt dokument." ma:contentTypeScope="" ma:versionID="e8caf80be3d831a8864ce8a819971079">
  <xsd:schema xmlns:xsd="http://www.w3.org/2001/XMLSchema" xmlns:xs="http://www.w3.org/2001/XMLSchema" xmlns:p="http://schemas.microsoft.com/office/2006/metadata/properties" xmlns:ns2="1d740a59-556d-46a0-88a8-d88610927999" xmlns:ns3="5130a3cf-7056-4e95-82e1-283a83a5b19c" targetNamespace="http://schemas.microsoft.com/office/2006/metadata/properties" ma:root="true" ma:fieldsID="e3048d1c584a1a07962d2d716a106e28" ns2:_="" ns3:_="">
    <xsd:import namespace="1d740a59-556d-46a0-88a8-d88610927999"/>
    <xsd:import namespace="5130a3cf-7056-4e95-82e1-283a83a5b1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740a59-556d-46a0-88a8-d886109279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445a99eb-5533-4b8b-a377-df1aefa44d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30a3cf-7056-4e95-82e1-283a83a5b19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5968439-5c84-4f03-87a0-38895469448d}" ma:internalName="TaxCatchAll" ma:showField="CatchAllData" ma:web="5130a3cf-7056-4e95-82e1-283a83a5b1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d740a59-556d-46a0-88a8-d88610927999">
      <Terms xmlns="http://schemas.microsoft.com/office/infopath/2007/PartnerControls"/>
    </lcf76f155ced4ddcb4097134ff3c332f>
    <TaxCatchAll xmlns="5130a3cf-7056-4e95-82e1-283a83a5b19c" xsi:nil="true"/>
  </documentManagement>
</p:properties>
</file>

<file path=customXml/itemProps1.xml><?xml version="1.0" encoding="utf-8"?>
<ds:datastoreItem xmlns:ds="http://schemas.openxmlformats.org/officeDocument/2006/customXml" ds:itemID="{781FE963-1219-45B7-83B3-59C087835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740a59-556d-46a0-88a8-d88610927999"/>
    <ds:schemaRef ds:uri="5130a3cf-7056-4e95-82e1-283a83a5b1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495D25-7C19-4B32-8C6A-AEF0BC07D1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35C07-E35A-43FC-9123-16E68255427D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5130a3cf-7056-4e95-82e1-283a83a5b19c"/>
    <ds:schemaRef ds:uri="1d740a59-556d-46a0-88a8-d8861092799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TPG_ppt_mall_nov2025_ver2</Template>
  <TotalTime>40</TotalTime>
  <Words>1140</Words>
  <Application>Microsoft Office PowerPoint</Application>
  <PresentationFormat>Bredbild</PresentationFormat>
  <Paragraphs>87</Paragraphs>
  <Slides>11</Slides>
  <Notes>11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Wingdings</vt:lpstr>
      <vt:lpstr>Office-tema</vt:lpstr>
      <vt:lpstr>Koda som ett Ess Peter Hansson, Novatrox Anders Viljosson, FMV</vt:lpstr>
      <vt:lpstr>Kontext styr AI-resultat</vt:lpstr>
      <vt:lpstr>Balansgång med kontext</vt:lpstr>
      <vt:lpstr>Styr AI med regler</vt:lpstr>
      <vt:lpstr>Smidiga arbetsmönster med Skills</vt:lpstr>
      <vt:lpstr>Arbetsflöden med AI</vt:lpstr>
      <vt:lpstr>AI briljerar vid iteration</vt:lpstr>
      <vt:lpstr>Utvecklarens förändrade roll</vt:lpstr>
      <vt:lpstr>Utmaningar för framtidens utvecklare</vt:lpstr>
      <vt:lpstr>Fyra nycklar till AI-utveckling</vt:lpstr>
      <vt:lpstr>peter.hansson@novatrox.se anders@viljo.se</vt:lpstr>
    </vt:vector>
  </TitlesOfParts>
  <Manager>Helen Kreutz-Bolander</Manager>
  <Company>Coor Service Management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Peter Hansson</dc:creator>
  <cp:keywords/>
  <dc:description/>
  <cp:lastModifiedBy>Peter Hansson</cp:lastModifiedBy>
  <cp:revision>1</cp:revision>
  <dcterms:created xsi:type="dcterms:W3CDTF">2026-03-11T12:02:09Z</dcterms:created>
  <dcterms:modified xsi:type="dcterms:W3CDTF">2026-03-11T12:42:18Z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0x010100F239030A59D78B4081EB30035D3D7D8C</vt:lpwstr>
  </property>
  <property fmtid="{D5CDD505-2E9C-101B-9397-08002B2CF9AE}" pid="3" name="MediaServiceImageTags">
    <vt:lpwstr/>
  </property>
</Properties>
</file>